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Urbanist" panose="020B0604020202020204" charset="0"/>
      <p:regular r:id="rId16"/>
      <p:bold r:id="rId17"/>
      <p:italic r:id="rId18"/>
      <p:boldItalic r:id="rId19"/>
    </p:embeddedFont>
    <p:embeddedFont>
      <p:font typeface="Urbanist Medium" panose="020B0604020202020204" charset="0"/>
      <p:regular r:id="rId20"/>
      <p:bold r:id="rId21"/>
      <p:italic r:id="rId22"/>
      <p:boldItalic r:id="rId23"/>
    </p:embeddedFont>
    <p:embeddedFont>
      <p:font typeface="Urbanist SemiBold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C17A24-7E0E-44AC-8244-510DCFDD8519}">
  <a:tblStyle styleId="{DAC17A24-7E0E-44AC-8244-510DCFDD85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deda7deea_0_1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deda7deea_0_1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deda7deea_87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deda7deea_87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deda7deea_0_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ededa7deea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deda7deea_62_0)">
  <p:cSld name="Generated (g3ededa7deea_62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85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395287" y="2089993"/>
            <a:ext cx="11401425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Evaluation &amp; Fine-Tuning of </a:t>
            </a:r>
            <a:r>
              <a:rPr lang="en-US" sz="5400" b="0" i="0" u="none" strike="noStrike" cap="none">
                <a:solidFill>
                  <a:srgbClr val="F9731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JamMa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2286000" y="303475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Semi-dense local feature matching for thermal–optical (IR ↔ RGB) image pairs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5457825" y="4289970"/>
            <a:ext cx="12763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Armin Servati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90BF07-2D54-40B9-95AE-F15346D49B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029199" y="6278665"/>
            <a:ext cx="2133600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/>
          <p:nvPr/>
        </p:nvSpPr>
        <p:spPr>
          <a:xfrm>
            <a:off x="4295775" y="2137469"/>
            <a:ext cx="3600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Problem</a:t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5619750" y="3156644"/>
            <a:ext cx="9525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2762250" y="3480494"/>
            <a:ext cx="66675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Matching across modalities breaks classical features. Thermal and optical sensors see the same scene through entirely different physics.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7924A2-3E5D-351A-5739-F8DB010246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029200" y="6310113"/>
            <a:ext cx="2133600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52600"/>
            <a:ext cx="3429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752600"/>
            <a:ext cx="3429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752600"/>
            <a:ext cx="3429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0250" y="21431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1355883" y="2952750"/>
            <a:ext cx="186023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Appearance Gap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866775" y="3371850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Hand-crafted descriptors (SIFT/ORB) assume photometric consistency. A building edge in RGB has contrast from lighting, while in IR it relies entirely on temperature differences.</a:t>
            </a:r>
            <a:endParaRPr dirty="0"/>
          </a:p>
        </p:txBody>
      </p:sp>
      <p:pic>
        <p:nvPicPr>
          <p:cNvPr id="108" name="Google Shape;10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1431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5185886" y="2952750"/>
            <a:ext cx="182022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Texture Disparity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4676775" y="3371850"/>
            <a:ext cx="283845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same scene looks completely different in each modality. Algorithms designed for scale-invariant color gradients collapse when presented with distinct heat signatures.</a:t>
            </a:r>
            <a:endParaRPr/>
          </a:p>
        </p:txBody>
      </p:sp>
      <p:pic>
        <p:nvPicPr>
          <p:cNvPr id="111" name="Google Shape;11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0" y="21431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8955881" y="2952750"/>
            <a:ext cx="190023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RANSAC Collapse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8486775" y="3371850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Due to fundamentally flawed putative matching across modalities, geometric verification routines drop all points, preserving only a handful of inaccurate inliers.</a:t>
            </a:r>
            <a:endParaRPr/>
          </a:p>
        </p:txBody>
      </p:sp>
      <p:pic>
        <p:nvPicPr>
          <p:cNvPr id="114" name="Google Shape;11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19312" y="2209800"/>
            <a:ext cx="3333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76925" y="2209800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58350" y="2209800"/>
            <a:ext cx="49530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Why Traditional Methods Fail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384B3E-D4CE-0ECC-E7BC-A3DD3CD099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029199" y="6302375"/>
            <a:ext cx="2133600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  <p:bldP spid="107" grpId="0"/>
      <p:bldP spid="109" grpId="0"/>
      <p:bldP spid="110" grpId="0"/>
      <p:bldP spid="112" grpId="0"/>
      <p:bldP spid="1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title="Screenshot 2026-06-18 134831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0250"/>
            <a:ext cx="5267323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1000125" y="1576089"/>
            <a:ext cx="4857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Profound Reduction: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SIFT detects a trivial number of features, yielding roughly 10 raw keypoints per image pair.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000125" y="2819697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RANSAC Rejection: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Only ~5 keypoints survive ratio tests to become geometric inliers.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000125" y="3728144"/>
            <a:ext cx="48577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Precision Collapse: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SIFT and ORB suffer a complete breakdown in accuracy, registering 0.0% correct matches within all critical error thresholds (&lt;5px, &lt;10px).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000125" y="5306913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Conclusion: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Hand-crafted descriptors are fundamentally unviable for cross-modal tasks.</a:t>
            </a:r>
            <a:endParaRPr/>
          </a:p>
        </p:txBody>
      </p:sp>
      <p:pic>
        <p:nvPicPr>
          <p:cNvPr id="181" name="Google Shape;18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623714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6732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75769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354538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Classical Failure: SIFT &amp; ORB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C76D70-7A91-FAF7-21D1-2355EE3D94A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029200" y="6315075"/>
            <a:ext cx="2133600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JamMa Architecture &amp; The JEGO Strategy</a:t>
            </a:r>
            <a:endParaRPr sz="3600" b="0">
              <a:solidFill>
                <a:srgbClr val="F8FAFC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grpSp>
        <p:nvGrpSpPr>
          <p:cNvPr id="124" name="Google Shape;124;p17"/>
          <p:cNvGrpSpPr/>
          <p:nvPr/>
        </p:nvGrpSpPr>
        <p:grpSpPr>
          <a:xfrm>
            <a:off x="571500" y="1524000"/>
            <a:ext cx="3619500" cy="4000500"/>
            <a:chOff x="0" y="0"/>
            <a:chExt cx="3619500" cy="4000500"/>
          </a:xfrm>
        </p:grpSpPr>
        <p:sp>
          <p:nvSpPr>
            <p:cNvPr id="125" name="Google Shape;125;p17"/>
            <p:cNvSpPr/>
            <p:nvPr/>
          </p:nvSpPr>
          <p:spPr>
            <a:xfrm>
              <a:off x="0" y="0"/>
              <a:ext cx="3619500" cy="4000500"/>
            </a:xfrm>
            <a:prstGeom prst="roundRect">
              <a:avLst>
                <a:gd name="adj" fmla="val 3157"/>
              </a:avLst>
            </a:prstGeom>
            <a:solidFill>
              <a:srgbClr val="334155">
                <a:alpha val="3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190500" y="190500"/>
              <a:ext cx="3238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>
                  <a:solidFill>
                    <a:srgbClr val="0EA5E9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The JEGO Strategy</a:t>
              </a:r>
              <a:endParaRPr sz="2100" b="0">
                <a:solidFill>
                  <a:srgbClr val="0EA5E9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JamMa utilizes Joint Mamba (JEGO) for cross-image interaction, resolving the 2D vision disconnect.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11150" algn="l" rtl="0">
                <a:spcBef>
                  <a:spcPts val="15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Joint Scan:</a:t>
              </a:r>
              <a:r>
                <a:rPr lang="en-US" sz="110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Mimics cross-attention with linear efficiency via skip steps.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Concatenation:</a:t>
              </a:r>
              <a:r>
                <a:rPr lang="en-US" sz="110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Merges images horizontally into a single 1D sequence.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60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Long-Range:</a:t>
              </a:r>
              <a:r>
                <a:rPr lang="en-US" sz="110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SSMs build global dependencies across sequences.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127" name="Google Shape;127;p17"/>
          <p:cNvPicPr preferRelativeResize="0"/>
          <p:nvPr/>
        </p:nvPicPr>
        <p:blipFill rotWithShape="1">
          <a:blip r:embed="rId5">
            <a:alphaModFix/>
          </a:blip>
          <a:srcRect l="377" r="367"/>
          <a:stretch/>
        </p:blipFill>
        <p:spPr>
          <a:xfrm>
            <a:off x="4381500" y="1524000"/>
            <a:ext cx="7239000" cy="2667000"/>
          </a:xfrm>
          <a:prstGeom prst="roundRect">
            <a:avLst>
              <a:gd name="adj" fmla="val 4285"/>
            </a:avLst>
          </a:prstGeom>
          <a:noFill/>
          <a:ln>
            <a:noFill/>
          </a:ln>
        </p:spPr>
      </p:pic>
      <p:grpSp>
        <p:nvGrpSpPr>
          <p:cNvPr id="128" name="Google Shape;128;p17"/>
          <p:cNvGrpSpPr/>
          <p:nvPr/>
        </p:nvGrpSpPr>
        <p:grpSpPr>
          <a:xfrm>
            <a:off x="4381500" y="4381500"/>
            <a:ext cx="7239000" cy="1143000"/>
            <a:chOff x="0" y="0"/>
            <a:chExt cx="7239000" cy="1143000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7239000" cy="1143000"/>
            </a:xfrm>
            <a:prstGeom prst="roundRect">
              <a:avLst>
                <a:gd name="adj" fmla="val 6666"/>
              </a:avLst>
            </a:prstGeom>
            <a:solidFill>
              <a:srgbClr val="0EA5E9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190500" y="142875"/>
              <a:ext cx="6858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The architecture integrates a </a:t>
              </a:r>
              <a:r>
                <a:rPr lang="en-US" sz="1300" b="0">
                  <a:solidFill>
                    <a:srgbClr val="0EA5E9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CNN Encoder</a:t>
              </a: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(ConvNext V2), a </a:t>
              </a:r>
              <a:r>
                <a:rPr lang="en-US" sz="1300" b="0">
                  <a:solidFill>
                    <a:srgbClr val="0EA5E9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JEGO Merge</a:t>
              </a: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layer, and a </a:t>
              </a:r>
              <a:r>
                <a:rPr lang="en-US" sz="1300" b="0">
                  <a:solidFill>
                    <a:srgbClr val="0EA5E9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C2F Matching</a:t>
              </a: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head for subpixel results.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571500" y="5715000"/>
            <a:ext cx="2190900" cy="952500"/>
            <a:chOff x="0" y="0"/>
            <a:chExt cx="2190900" cy="952500"/>
          </a:xfrm>
        </p:grpSpPr>
        <p:sp>
          <p:nvSpPr>
            <p:cNvPr id="132" name="Google Shape;132;p17"/>
            <p:cNvSpPr/>
            <p:nvPr/>
          </p:nvSpPr>
          <p:spPr>
            <a:xfrm>
              <a:off x="0" y="0"/>
              <a:ext cx="2190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0" y="0"/>
              <a:ext cx="2190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97316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1. CNN Encoder</a:t>
              </a:r>
              <a:endParaRPr sz="1400" b="0">
                <a:solidFill>
                  <a:srgbClr val="F97316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Extracts efficient coarse and fine features.</a:t>
              </a:r>
              <a:endParaRPr sz="110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34" name="Google Shape;134;p17"/>
          <p:cNvGrpSpPr/>
          <p:nvPr/>
        </p:nvGrpSpPr>
        <p:grpSpPr>
          <a:xfrm>
            <a:off x="2762250" y="5715000"/>
            <a:ext cx="2190900" cy="952500"/>
            <a:chOff x="0" y="0"/>
            <a:chExt cx="2190900" cy="952500"/>
          </a:xfrm>
        </p:grpSpPr>
        <p:sp>
          <p:nvSpPr>
            <p:cNvPr id="135" name="Google Shape;135;p17"/>
            <p:cNvSpPr/>
            <p:nvPr/>
          </p:nvSpPr>
          <p:spPr>
            <a:xfrm>
              <a:off x="0" y="0"/>
              <a:ext cx="2190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0" y="0"/>
              <a:ext cx="2190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97316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2. JEGO Scan</a:t>
              </a:r>
              <a:endParaRPr sz="1400" b="0">
                <a:solidFill>
                  <a:srgbClr val="F97316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Joint skip-scan into 4 directional sequences.</a:t>
              </a:r>
              <a:endParaRPr sz="110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4953000" y="5715000"/>
            <a:ext cx="2190900" cy="952500"/>
            <a:chOff x="0" y="0"/>
            <a:chExt cx="2190900" cy="952500"/>
          </a:xfrm>
        </p:grpSpPr>
        <p:sp>
          <p:nvSpPr>
            <p:cNvPr id="138" name="Google Shape;138;p17"/>
            <p:cNvSpPr/>
            <p:nvPr/>
          </p:nvSpPr>
          <p:spPr>
            <a:xfrm>
              <a:off x="0" y="0"/>
              <a:ext cx="2190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0" y="0"/>
              <a:ext cx="2190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97316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3. Mamba Blocks</a:t>
              </a:r>
              <a:endParaRPr sz="1400" b="0">
                <a:solidFill>
                  <a:srgbClr val="F97316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State space models for long-range deps.</a:t>
              </a:r>
              <a:endParaRPr sz="110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7143750" y="5715000"/>
            <a:ext cx="2190900" cy="952500"/>
            <a:chOff x="0" y="0"/>
            <a:chExt cx="2190900" cy="952500"/>
          </a:xfrm>
        </p:grpSpPr>
        <p:sp>
          <p:nvSpPr>
            <p:cNvPr id="141" name="Google Shape;141;p17"/>
            <p:cNvSpPr/>
            <p:nvPr/>
          </p:nvSpPr>
          <p:spPr>
            <a:xfrm>
              <a:off x="0" y="0"/>
              <a:ext cx="2190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0" y="0"/>
              <a:ext cx="2190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97316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4. JEGO Merge</a:t>
              </a:r>
              <a:endParaRPr sz="1400" b="0">
                <a:solidFill>
                  <a:srgbClr val="F97316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Aggregates and merges multi-directional features.</a:t>
              </a:r>
              <a:endParaRPr sz="110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43" name="Google Shape;143;p17"/>
          <p:cNvGrpSpPr/>
          <p:nvPr/>
        </p:nvGrpSpPr>
        <p:grpSpPr>
          <a:xfrm>
            <a:off x="9334500" y="5715000"/>
            <a:ext cx="2190900" cy="952500"/>
            <a:chOff x="0" y="0"/>
            <a:chExt cx="2190900" cy="952500"/>
          </a:xfrm>
        </p:grpSpPr>
        <p:sp>
          <p:nvSpPr>
            <p:cNvPr id="144" name="Google Shape;144;p17"/>
            <p:cNvSpPr/>
            <p:nvPr/>
          </p:nvSpPr>
          <p:spPr>
            <a:xfrm>
              <a:off x="0" y="0"/>
              <a:ext cx="2190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0" y="0"/>
              <a:ext cx="2190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97316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5. C2F Matching</a:t>
              </a:r>
              <a:endParaRPr sz="1400" b="0">
                <a:solidFill>
                  <a:srgbClr val="F97316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Local Aggregator for subpixel matches.</a:t>
              </a:r>
              <a:endParaRPr sz="110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5286375" cy="5176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04950"/>
            <a:ext cx="5286375" cy="517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849325" y="1895481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Benchmark Dataset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49325" y="2362206"/>
            <a:ext cx="45054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Evaluations were conducted on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RoadScene Dataset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comprising aligned infrared and visible road scenes.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49325" y="3419481"/>
            <a:ext cx="4505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Dataset properties dictate extreme variations in texture, lighting, and semantic representations across the modalities, providing a rigorous testbed for matching robustness.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724650" y="1895475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Fine-Tuning Recipe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534275" y="2505075"/>
            <a:ext cx="36957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Base: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Pretrained on MegaDepth (outdoor RGB).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534275" y="3413521"/>
            <a:ext cx="36957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Framework: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PyTorch Lightning on Kaggle GPU.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7534275" y="4321968"/>
            <a:ext cx="36957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Learning Rate: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1e-4 (10x lower to prevent catastrophic forgetting).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534275" y="5543550"/>
            <a:ext cx="36957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Augmentation:</a:t>
            </a:r>
            <a:r>
              <a:rPr lang="en-US" sz="165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Random horizontal flip for full-image coverage.</a:t>
            </a:r>
            <a:endParaRPr sz="1650" b="1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05650" y="25527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05650" y="3461146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05650" y="436959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05650" y="5591175"/>
            <a:ext cx="2286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Experimental Setup</a:t>
            </a:r>
            <a:endParaRPr/>
          </a:p>
        </p:txBody>
      </p:sp>
      <p:grpSp>
        <p:nvGrpSpPr>
          <p:cNvPr id="166" name="Google Shape;166;p18"/>
          <p:cNvGrpSpPr/>
          <p:nvPr/>
        </p:nvGrpSpPr>
        <p:grpSpPr>
          <a:xfrm>
            <a:off x="7534275" y="5091463"/>
            <a:ext cx="3695700" cy="342900"/>
            <a:chOff x="0" y="0"/>
            <a:chExt cx="3695700" cy="342900"/>
          </a:xfrm>
        </p:grpSpPr>
        <p:sp>
          <p:nvSpPr>
            <p:cNvPr id="167" name="Google Shape;167;p18"/>
            <p:cNvSpPr/>
            <p:nvPr/>
          </p:nvSpPr>
          <p:spPr>
            <a:xfrm>
              <a:off x="0" y="0"/>
              <a:ext cx="36957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0" y="0"/>
              <a:ext cx="3695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Batch Size:</a:t>
              </a:r>
              <a:r>
                <a:rPr lang="en-US" sz="165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2</a:t>
              </a:r>
              <a:endParaRPr sz="165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169" name="Google Shape;169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05650" y="5139088"/>
            <a:ext cx="2286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E006C7-5DD1-B285-832C-45DD8997FF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029200" y="6301162"/>
            <a:ext cx="2133600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title="Screenshot 2026-06-18 174732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0250"/>
            <a:ext cx="5267326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1000125" y="1862732"/>
            <a:ext cx="4857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Dense Correspondences: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fine-tuned model establishes thousands of highly confident matching points across the image pair.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000125" y="3106340"/>
            <a:ext cx="4857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Modality Invariance: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Successfully bridges the severe visual gap between thermal heat signatures and optical lighting textures.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000125" y="4349948"/>
            <a:ext cx="48577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Geometric Coherence: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Match lines are near-parallel and entirely consistent with the scene's spatial registration, spanning roads, skies, and low-texture areas.</a:t>
            </a:r>
            <a:endParaRPr/>
          </a:p>
        </p:txBody>
      </p:sp>
      <p:pic>
        <p:nvPicPr>
          <p:cNvPr id="196" name="Google Shape;19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91035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5396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97573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Qualitative Result: </a:t>
            </a:r>
            <a:r>
              <a:rPr lang="en-US" sz="3600" b="0" i="0" u="none" strike="noStrike" cap="none">
                <a:solidFill>
                  <a:srgbClr val="0EA5E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Fine-Tuned JamMa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B31E47-0EC1-4358-F84F-C5F3679B133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029200" y="6315075"/>
            <a:ext cx="2133600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Quantitative Comparison</a:t>
            </a:r>
            <a:endParaRPr/>
          </a:p>
        </p:txBody>
      </p:sp>
      <p:graphicFrame>
        <p:nvGraphicFramePr>
          <p:cNvPr id="205" name="Google Shape;205;p21"/>
          <p:cNvGraphicFramePr/>
          <p:nvPr/>
        </p:nvGraphicFramePr>
        <p:xfrm>
          <a:off x="571500" y="1185825"/>
          <a:ext cx="10921975" cy="5457100"/>
        </p:xfrm>
        <a:graphic>
          <a:graphicData uri="http://schemas.openxmlformats.org/drawingml/2006/table">
            <a:tbl>
              <a:tblPr>
                <a:noFill/>
                <a:tableStyleId>{DAC17A24-7E0E-44AC-8244-510DCFDD8519}</a:tableStyleId>
              </a:tblPr>
              <a:tblGrid>
                <a:gridCol w="291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>
                          <a:solidFill>
                            <a:srgbClr val="38BDF8"/>
                          </a:solidFill>
                          <a:highlight>
                            <a:srgbClr val="0F172A"/>
                          </a:highlight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Metric (Averaged)</a:t>
                      </a:r>
                      <a:endParaRPr sz="1500" b="0">
                        <a:solidFill>
                          <a:srgbClr val="38BDF8"/>
                        </a:solidFill>
                        <a:highlight>
                          <a:srgbClr val="0F172A"/>
                        </a:highlight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>
                          <a:solidFill>
                            <a:srgbClr val="38BDF8"/>
                          </a:solidFill>
                          <a:highlight>
                            <a:srgbClr val="0F172A"/>
                          </a:highlight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SIFT + RANSAC</a:t>
                      </a:r>
                      <a:endParaRPr sz="1500" b="0">
                        <a:solidFill>
                          <a:srgbClr val="38BDF8"/>
                        </a:solidFill>
                        <a:highlight>
                          <a:srgbClr val="0F172A"/>
                        </a:highlight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>
                          <a:solidFill>
                            <a:srgbClr val="38BDF8"/>
                          </a:solidFill>
                          <a:highlight>
                            <a:srgbClr val="0F172A"/>
                          </a:highlight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JamMa Pretrained</a:t>
                      </a:r>
                      <a:endParaRPr sz="1500" b="0">
                        <a:solidFill>
                          <a:srgbClr val="38BDF8"/>
                        </a:solidFill>
                        <a:highlight>
                          <a:srgbClr val="0F172A"/>
                        </a:highlight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>
                          <a:solidFill>
                            <a:srgbClr val="38BDF8"/>
                          </a:solidFill>
                          <a:highlight>
                            <a:srgbClr val="0F172A"/>
                          </a:highlight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JamMa Fine-tuned</a:t>
                      </a:r>
                      <a:endParaRPr sz="1500" b="0">
                        <a:solidFill>
                          <a:srgbClr val="38BDF8"/>
                        </a:solidFill>
                        <a:highlight>
                          <a:srgbClr val="0F172A"/>
                        </a:highlight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Avg Raw Matches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10.4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725.6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>
                          <a:solidFill>
                            <a:srgbClr val="38BDF8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2849.7</a:t>
                      </a:r>
                      <a:endParaRPr sz="1425" b="1">
                        <a:solidFill>
                          <a:srgbClr val="38BDF8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Avg RANSAC Inliers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5.2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522.2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>
                          <a:solidFill>
                            <a:srgbClr val="38BDF8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1547.0</a:t>
                      </a:r>
                      <a:endParaRPr sz="1425" b="1">
                        <a:solidFill>
                          <a:srgbClr val="38BDF8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Inlier Ratio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51.9%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69.4%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55.0%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% Correct &lt; 5px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11.0%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68.6%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>
                          <a:solidFill>
                            <a:srgbClr val="38BDF8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93.8%</a:t>
                      </a:r>
                      <a:endParaRPr sz="1425" b="1">
                        <a:solidFill>
                          <a:srgbClr val="38BDF8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% Correct &lt; 20px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18.3%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98.6%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>
                          <a:solidFill>
                            <a:srgbClr val="38BDF8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100.0%</a:t>
                      </a:r>
                      <a:endParaRPr sz="1425" b="1">
                        <a:solidFill>
                          <a:srgbClr val="38BDF8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Mean Reproj. Error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179.25 px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4.52 px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>
                          <a:solidFill>
                            <a:srgbClr val="38BDF8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1.85 px</a:t>
                      </a:r>
                      <a:endParaRPr sz="1425" b="1">
                        <a:solidFill>
                          <a:srgbClr val="38BDF8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Inference Speed (FPS)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11.8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9.8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1E293B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6.4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1E293B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6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Runtime (ms)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85.3 ms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102.5 ms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>
                          <a:solidFill>
                            <a:srgbClr val="CBD5E1"/>
                          </a:solidFill>
                          <a:highlight>
                            <a:srgbClr val="0F172A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155.5 ms</a:t>
                      </a:r>
                      <a:endParaRPr sz="1425" b="0">
                        <a:solidFill>
                          <a:srgbClr val="CBD5E1"/>
                        </a:solidFill>
                        <a:highlight>
                          <a:srgbClr val="0F172A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6D2277-4EB0-2B4B-E54F-4042EEAF167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66671" y="633802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2928937"/>
            <a:ext cx="3924300" cy="1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8.5</a:t>
            </a:r>
            <a:r>
              <a:rPr lang="en-US" sz="11250" b="1" i="0" u="none" strike="noStrike" cap="none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x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4500562"/>
            <a:ext cx="39243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Improvement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5943600" y="2452687"/>
            <a:ext cx="59607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Unprecedented Precision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943600" y="2919412"/>
            <a:ext cx="5676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Fine-tuning JamMa on domain-specific data yields a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8.5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x improvement over classical methods, achieving a staggering 9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8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% match precision within a 5-pixel threshold.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943600" y="3976687"/>
            <a:ext cx="56769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Furthermore, the mean reprojection error drops from a completely unusable ~179 pixels (ORB/SIFT) down to just 1.85 pixels, making it viable for downstream tasks like SLAM and autonomous driving localization.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Performance </a:t>
            </a:r>
            <a:r>
              <a:rPr lang="en-US" sz="3600" b="0" i="0" u="none" strike="noStrike" cap="none">
                <a:solidFill>
                  <a:srgbClr val="0EA5E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Gains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8E73E8-4225-76CE-5EA4-C266E50032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876800" y="6318508"/>
            <a:ext cx="2133600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Strengths &amp; </a:t>
            </a:r>
            <a:r>
              <a:rPr lang="en-US" sz="3600" b="0">
                <a:solidFill>
                  <a:srgbClr val="0EA5E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Weaknesses</a:t>
            </a:r>
            <a:r>
              <a:rPr lang="en-US" sz="36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Analysis</a:t>
            </a:r>
            <a:endParaRPr sz="3600" b="0">
              <a:solidFill>
                <a:srgbClr val="F8FAFC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grpSp>
        <p:nvGrpSpPr>
          <p:cNvPr id="212" name="Google Shape;212;p22"/>
          <p:cNvGrpSpPr/>
          <p:nvPr/>
        </p:nvGrpSpPr>
        <p:grpSpPr>
          <a:xfrm>
            <a:off x="571500" y="1524000"/>
            <a:ext cx="5381700" cy="4572000"/>
            <a:chOff x="0" y="0"/>
            <a:chExt cx="5381700" cy="4572000"/>
          </a:xfrm>
        </p:grpSpPr>
        <p:sp>
          <p:nvSpPr>
            <p:cNvPr id="213" name="Google Shape;213;p22"/>
            <p:cNvSpPr/>
            <p:nvPr/>
          </p:nvSpPr>
          <p:spPr>
            <a:xfrm>
              <a:off x="0" y="0"/>
              <a:ext cx="5381700" cy="4572000"/>
            </a:xfrm>
            <a:prstGeom prst="roundRect">
              <a:avLst>
                <a:gd name="adj" fmla="val 250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2"/>
            <p:cNvSpPr txBox="1"/>
            <p:nvPr/>
          </p:nvSpPr>
          <p:spPr>
            <a:xfrm>
              <a:off x="285750" y="238125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Classic Methods (SIFT / RANSAC)</a:t>
              </a:r>
              <a:endParaRPr sz="2100" b="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grpSp>
          <p:nvGrpSpPr>
            <p:cNvPr id="215" name="Google Shape;215;p22"/>
            <p:cNvGrpSpPr/>
            <p:nvPr/>
          </p:nvGrpSpPr>
          <p:grpSpPr>
            <a:xfrm>
              <a:off x="285750" y="809625"/>
              <a:ext cx="4810200" cy="1476375"/>
              <a:chOff x="0" y="0"/>
              <a:chExt cx="4810200" cy="1476375"/>
            </a:xfrm>
          </p:grpSpPr>
          <p:sp>
            <p:nvSpPr>
              <p:cNvPr id="216" name="Google Shape;216;p22"/>
              <p:cNvSpPr/>
              <p:nvPr/>
            </p:nvSpPr>
            <p:spPr>
              <a:xfrm>
                <a:off x="0" y="0"/>
                <a:ext cx="7620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64E3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2"/>
              <p:cNvSpPr txBox="1"/>
              <p:nvPr/>
            </p:nvSpPr>
            <p:spPr>
              <a:xfrm>
                <a:off x="0" y="0"/>
                <a:ext cx="76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80" b="1">
                    <a:solidFill>
                      <a:srgbClr val="10B98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STRENGTHS</a:t>
                </a:r>
                <a:endParaRPr sz="980" b="1">
                  <a:solidFill>
                    <a:srgbClr val="10B98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18" name="Google Shape;218;p22"/>
              <p:cNvSpPr txBox="1"/>
              <p:nvPr/>
            </p:nvSpPr>
            <p:spPr>
              <a:xfrm>
                <a:off x="0" y="333375"/>
                <a:ext cx="48102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 dirty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Interpretability: Mathematical foundations are well-understood.</a:t>
                </a:r>
                <a:endParaRPr sz="12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 dirty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Zero Training: Generalizes across optical domains without data.</a:t>
                </a:r>
                <a:endParaRPr sz="12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450"/>
                  </a:spcBef>
                  <a:spcAft>
                    <a:spcPts val="45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 dirty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Compute Efficiency: Fast execution on CPU (85-100ms).</a:t>
                </a:r>
                <a:endParaRPr sz="12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219" name="Google Shape;219;p22"/>
            <p:cNvGrpSpPr/>
            <p:nvPr/>
          </p:nvGrpSpPr>
          <p:grpSpPr>
            <a:xfrm>
              <a:off x="285750" y="2476500"/>
              <a:ext cx="4810200" cy="1762275"/>
              <a:chOff x="0" y="0"/>
              <a:chExt cx="4810200" cy="1762275"/>
            </a:xfrm>
          </p:grpSpPr>
          <p:sp>
            <p:nvSpPr>
              <p:cNvPr id="220" name="Google Shape;220;p22"/>
              <p:cNvSpPr/>
              <p:nvPr/>
            </p:nvSpPr>
            <p:spPr>
              <a:xfrm>
                <a:off x="0" y="0"/>
                <a:ext cx="8574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45122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2"/>
              <p:cNvSpPr txBox="1"/>
              <p:nvPr/>
            </p:nvSpPr>
            <p:spPr>
              <a:xfrm>
                <a:off x="0" y="0"/>
                <a:ext cx="857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80" b="1">
                    <a:solidFill>
                      <a:srgbClr val="F43F5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WEAKNESSES</a:t>
                </a:r>
                <a:endParaRPr sz="980" b="1">
                  <a:solidFill>
                    <a:srgbClr val="F43F5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22" name="Google Shape;222;p22"/>
              <p:cNvSpPr txBox="1"/>
              <p:nvPr/>
            </p:nvSpPr>
            <p:spPr>
              <a:xfrm>
                <a:off x="0" y="333375"/>
                <a:ext cx="48102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Modality Gap: Fails to bridge thermal and optical textures.</a:t>
                </a:r>
                <a:endParaRPr sz="12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Extreme Sparsity: Yields only ~10 raw matches per pair.</a:t>
                </a:r>
                <a:endParaRPr sz="12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Precision Collapse: 0% accuracy within critical 5px thresholds.</a:t>
                </a:r>
                <a:endParaRPr sz="12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450"/>
                  </a:spcBef>
                  <a:spcAft>
                    <a:spcPts val="45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High Error: Reprojection error averages ~179 pixels.</a:t>
                </a:r>
                <a:endParaRPr sz="12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grpSp>
        <p:nvGrpSpPr>
          <p:cNvPr id="223" name="Google Shape;223;p22"/>
          <p:cNvGrpSpPr/>
          <p:nvPr/>
        </p:nvGrpSpPr>
        <p:grpSpPr>
          <a:xfrm>
            <a:off x="6238875" y="1524000"/>
            <a:ext cx="5381700" cy="4572000"/>
            <a:chOff x="0" y="0"/>
            <a:chExt cx="5381700" cy="4572000"/>
          </a:xfrm>
        </p:grpSpPr>
        <p:sp>
          <p:nvSpPr>
            <p:cNvPr id="224" name="Google Shape;224;p22"/>
            <p:cNvSpPr/>
            <p:nvPr/>
          </p:nvSpPr>
          <p:spPr>
            <a:xfrm>
              <a:off x="0" y="0"/>
              <a:ext cx="5381700" cy="4572000"/>
            </a:xfrm>
            <a:prstGeom prst="roundRect">
              <a:avLst>
                <a:gd name="adj" fmla="val 250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2"/>
            <p:cNvSpPr txBox="1"/>
            <p:nvPr/>
          </p:nvSpPr>
          <p:spPr>
            <a:xfrm>
              <a:off x="285750" y="238125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Deep Learning (JamMa Fine-Tuned)</a:t>
              </a:r>
              <a:endParaRPr sz="2100" b="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grpSp>
          <p:nvGrpSpPr>
            <p:cNvPr id="226" name="Google Shape;226;p22"/>
            <p:cNvGrpSpPr/>
            <p:nvPr/>
          </p:nvGrpSpPr>
          <p:grpSpPr>
            <a:xfrm>
              <a:off x="285750" y="809625"/>
              <a:ext cx="4810200" cy="1476375"/>
              <a:chOff x="0" y="0"/>
              <a:chExt cx="4810200" cy="1476375"/>
            </a:xfrm>
          </p:grpSpPr>
          <p:sp>
            <p:nvSpPr>
              <p:cNvPr id="227" name="Google Shape;227;p22"/>
              <p:cNvSpPr/>
              <p:nvPr/>
            </p:nvSpPr>
            <p:spPr>
              <a:xfrm>
                <a:off x="0" y="0"/>
                <a:ext cx="7620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64E3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2"/>
              <p:cNvSpPr txBox="1"/>
              <p:nvPr/>
            </p:nvSpPr>
            <p:spPr>
              <a:xfrm>
                <a:off x="0" y="0"/>
                <a:ext cx="76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80" b="1">
                    <a:solidFill>
                      <a:srgbClr val="10B98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STRENGTHS</a:t>
                </a:r>
                <a:endParaRPr sz="980" b="1">
                  <a:solidFill>
                    <a:srgbClr val="10B98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29" name="Google Shape;229;p22"/>
              <p:cNvSpPr txBox="1"/>
              <p:nvPr/>
            </p:nvSpPr>
            <p:spPr>
              <a:xfrm>
                <a:off x="0" y="333375"/>
                <a:ext cx="48102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Unprecedented Precision: 93.8% match rate at &lt;5px.</a:t>
                </a:r>
                <a:endParaRPr sz="12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Dense Correspondence: Establishes thousands of confident points.</a:t>
                </a:r>
                <a:endParaRPr sz="12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Cross-Modal Mastery: Bridging thermal heat and optical light.</a:t>
                </a:r>
                <a:endParaRPr sz="12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450"/>
                  </a:spcBef>
                  <a:spcAft>
                    <a:spcPts val="45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Metric Accuracy: Error drops to a minimal 1.85 pixels.</a:t>
                </a:r>
                <a:endParaRPr sz="12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230" name="Google Shape;230;p22"/>
            <p:cNvGrpSpPr/>
            <p:nvPr/>
          </p:nvGrpSpPr>
          <p:grpSpPr>
            <a:xfrm>
              <a:off x="285750" y="2476500"/>
              <a:ext cx="4810200" cy="1762275"/>
              <a:chOff x="0" y="0"/>
              <a:chExt cx="4810200" cy="1762275"/>
            </a:xfrm>
          </p:grpSpPr>
          <p:sp>
            <p:nvSpPr>
              <p:cNvPr id="231" name="Google Shape;231;p22"/>
              <p:cNvSpPr/>
              <p:nvPr/>
            </p:nvSpPr>
            <p:spPr>
              <a:xfrm>
                <a:off x="0" y="0"/>
                <a:ext cx="8574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45122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2"/>
              <p:cNvSpPr txBox="1"/>
              <p:nvPr/>
            </p:nvSpPr>
            <p:spPr>
              <a:xfrm>
                <a:off x="0" y="0"/>
                <a:ext cx="857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80" b="1">
                    <a:solidFill>
                      <a:srgbClr val="F43F5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WEAKNESSES</a:t>
                </a:r>
                <a:endParaRPr sz="980" b="1">
                  <a:solidFill>
                    <a:srgbClr val="F43F5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33" name="Google Shape;233;p22"/>
              <p:cNvSpPr txBox="1"/>
              <p:nvPr/>
            </p:nvSpPr>
            <p:spPr>
              <a:xfrm>
                <a:off x="0" y="333375"/>
                <a:ext cx="48102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Compute Intensity: Slowest runtime at 155.5ms (6.4 FPS).</a:t>
                </a:r>
                <a:endParaRPr sz="12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Data Dependency: Requires specific cross-modal training pairs.</a:t>
                </a:r>
                <a:endParaRPr sz="12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Generalization Risk: Performance drops on unseen domains.</a:t>
                </a:r>
                <a:endParaRPr sz="12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450"/>
                  </a:spcBef>
                  <a:spcAft>
                    <a:spcPts val="450"/>
                  </a:spcAft>
                  <a:buClr>
                    <a:srgbClr val="CBD5E1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Black-Box Nature: Less interpretable than geometric methods.</a:t>
                </a:r>
                <a:endParaRPr sz="12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5286375" cy="4786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04950"/>
            <a:ext cx="5286375" cy="478631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962025" y="189547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Current Limitations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724650" y="206305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Future Trajectories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1390650" y="2505075"/>
            <a:ext cx="4076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Small Dataset: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Training on only 187 pairs restricts broad generalization.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1390650" y="3413521"/>
            <a:ext cx="40767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Below Real-Time: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Operates at 6.4 FPS; requires GPU optimization or quantization for autonomous applications.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1390650" y="4657129"/>
            <a:ext cx="40767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Domain Drops: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Performance decreases on unseen domains (e.g., flash photography datasets).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7153275" y="2672655"/>
            <a:ext cx="40767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Expansion: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Incorporate larger cross-modal datasets (e.g., LasHeR).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7153275" y="3581102"/>
            <a:ext cx="40767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Adaptation: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Explore cross-domain and test-time adaptation for novel environment.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7153275" y="4489549"/>
            <a:ext cx="40767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Optimization: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Push for real-time inference speeds via architectural pruning or TensorRT deployment.</a:t>
            </a:r>
            <a:endParaRPr/>
          </a:p>
        </p:txBody>
      </p:sp>
      <p:pic>
        <p:nvPicPr>
          <p:cNvPr id="232" name="Google Shape;23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5527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346114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4704754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272028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24650" y="362872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24650" y="4537174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Limitations &amp; Future Work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464243-9AB3-A71E-36CA-F6C0D6808E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029200" y="6275387"/>
            <a:ext cx="2133600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/>
      <p:bldP spid="225" grpId="0"/>
      <p:bldP spid="226" grpId="0"/>
      <p:bldP spid="227" grpId="0"/>
      <p:bldP spid="228" grpId="0"/>
      <p:bldP spid="229" grpId="0"/>
      <p:bldP spid="230" grpId="0"/>
      <p:bldP spid="2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1276"/>
            <a:ext cx="5286375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641276"/>
            <a:ext cx="5286375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1809750" y="5336976"/>
            <a:ext cx="85725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These findings underscore the necessity of specialized models and high-quality data for effective cross-modal feature matching.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962025" y="2184201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Classical Methods Fail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962025" y="2650926"/>
            <a:ext cx="45054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Traditional methods are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not viable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cross-modal matching. SIFT and ORB produce essentially random correspondences on IR/visible pairs with a 179px mean error and only 5 valid matches per pair. They were fundamentally not designed for this task.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6724650" y="2031801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JamMa Excels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6724650" y="2498526"/>
            <a:ext cx="45054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Fine-tuning JamMa on domain-specific data works exceptionally well. Starting from pretrained RGB weights and fine-tuning on 187 IR/visible pairs achieves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9</a:t>
            </a:r>
            <a:r>
              <a:rPr lang="en-US" sz="150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r>
              <a:rPr lang="en-US" sz="150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8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% match precision at &lt;5px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—a 13x improvement over classical methods and 1.4x over pretrained JamMa.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Conclusions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2861B1-FF34-E4C6-F4A4-06DB6C0C58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029200" y="6280355"/>
            <a:ext cx="2133600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295275" y="57150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9731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Questions?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571500" y="167640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571500" y="2245965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Evaluation &amp; Fine-Tuning of JamMa | Multimodal Image Matching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B89465-6EAE-9291-3178-7938130CBA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1056</Words>
  <Application>Microsoft Office PowerPoint</Application>
  <PresentationFormat>Widescreen</PresentationFormat>
  <Paragraphs>142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Urbanist</vt:lpstr>
      <vt:lpstr>Urbanist Medium</vt:lpstr>
      <vt:lpstr>Urbanist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Armin Servati</cp:lastModifiedBy>
  <cp:revision>5</cp:revision>
  <dcterms:modified xsi:type="dcterms:W3CDTF">2026-06-19T18:17:37Z</dcterms:modified>
</cp:coreProperties>
</file>